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04" r:id="rId4"/>
    <p:sldId id="280" r:id="rId5"/>
    <p:sldId id="281" r:id="rId6"/>
    <p:sldId id="282" r:id="rId7"/>
    <p:sldId id="312" r:id="rId8"/>
    <p:sldId id="283" r:id="rId9"/>
    <p:sldId id="284" r:id="rId10"/>
    <p:sldId id="288" r:id="rId11"/>
    <p:sldId id="303" r:id="rId12"/>
    <p:sldId id="289" r:id="rId13"/>
    <p:sldId id="314" r:id="rId14"/>
    <p:sldId id="311" r:id="rId15"/>
    <p:sldId id="310" r:id="rId16"/>
    <p:sldId id="290" r:id="rId17"/>
    <p:sldId id="30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DD452-8976-4751-B633-B598305A8EFC}" v="391" dt="2025-10-21T18:01:13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9291" autoAdjust="0"/>
  </p:normalViewPr>
  <p:slideViewPr>
    <p:cSldViewPr snapToGrid="0">
      <p:cViewPr varScale="1">
        <p:scale>
          <a:sx n="63" d="100"/>
          <a:sy n="63" d="100"/>
        </p:scale>
        <p:origin x="804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09:56:44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F733E-FC3F-4441-A526-C5C9B9B58CC7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7F962-CB5A-4D54-9B32-E0C149909F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23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576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07AE4-50FF-253D-29AC-C5BA068B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5DC4F-AB46-26DC-A161-D7E6F451B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D0830-2C70-737A-1F7C-C51BF8212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6165E-FB57-3010-3641-BAB8750C8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78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4747-FAEA-D932-597A-B29A8E79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F29FD-E59A-2195-FB35-DD6572323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091C3-C5FB-B1F6-7245-3E9B11429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2E9FC-3E12-FE02-AF24-C1029A973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9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C952-F79D-31EC-D064-4930E67C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8BF1A-30F2-5CF8-8FD0-DAA9897E2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59707-A228-DE8C-E809-26D2E3572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F2DC3-7634-1958-F227-14DF02D54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594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D7BF-019E-C7DA-EE59-9105F315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4459B-C04F-BAC9-6ED4-568913658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8BF83-A0DB-DC12-9E19-CC5297E5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301EE-79CE-64CE-C028-E3601B4D7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823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D7BF-019E-C7DA-EE59-9105F315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4459B-C04F-BAC9-6ED4-568913658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8BF83-A0DB-DC12-9E19-CC5297E5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301EE-79CE-64CE-C028-E3601B4D7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823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D07E-0EFA-E834-581F-AFDACB52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3D4DA-066A-EB4D-99EB-31770B6E2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7CF1F-B504-453F-1D0C-8DD812863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2761D-23AC-9DEE-4B40-9B10BA1EC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27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2A8A-6808-0669-9BEC-27CAF1EE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5EA3C-AA22-19BC-90C0-DEE066D07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1B093-F54C-17F2-427E-01AFCC8E8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F6ED4-9832-5E61-DCF2-8A84BBFC0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78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4DD6-01D4-BB75-A213-9FC32537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706B3-BCE6-A49A-5437-28A5DFE3B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C82F1-C656-DB40-EFCE-DD8CB55D7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CDB39-1BF1-2C34-A1C9-C07320CAC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34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6A9AD-C728-EE11-1D57-729D7BF1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EAB9E-3534-8BFB-0A3F-2BCC75D59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A61E6-9A6D-0E3F-45FA-A8990B89B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3EB14-400F-36CB-5D25-F06C410FE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B397-8E49-96DB-171E-6A0AA0C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16F80-A783-17F8-5322-7F25D8524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27AF1-3EBF-481A-EF0D-362323D72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91EF-FE9C-E234-963E-5E75509D6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00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302FA-46A0-B720-67F4-45B3D958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1ED65-D11C-448A-950D-1AC3A276D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3CF2E-5551-61A3-A931-AD8391146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F356E-8996-0A19-5033-407B8524E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493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B397-8E49-96DB-171E-6A0AA0C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16F80-A783-17F8-5322-7F25D8524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27AF1-3EBF-481A-EF0D-362323D72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91EF-FE9C-E234-963E-5E75509D6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00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B397-8E49-96DB-171E-6A0AA0C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16F80-A783-17F8-5322-7F25D8524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27AF1-3EBF-481A-EF0D-362323D72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91EF-FE9C-E234-963E-5E75509D6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00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FB8E-31E1-03AC-B2AC-70265BA7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E7BB5-C0AD-6371-BF3D-316099077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84F75-B274-A6E7-4876-DF39C9D88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9E648-839A-740D-9945-E10130251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128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3E02-E823-A7AC-2E5B-495DD352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A279A-6CAE-5573-77C7-45EDD72B4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B4158-5837-9899-4482-98E4F1B20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53A8E-6A4C-BD08-9D24-2B3FB8D6E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7F962-CB5A-4D54-9B32-E0C149909F7F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10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4964-5263-9F8F-0EC9-946030926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121F9-F7CD-1782-57B8-89543ECCF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792C-7DA6-1200-C3AD-E8657E3D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699F7-C80F-67B4-6DF6-51386D67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5D0AA-58F1-9900-5D49-111E13DD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0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83E6-F3D3-2B42-627D-47145FEB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94219-2BA6-B047-946B-7E75188BE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40A35-A93A-D32D-C212-1101BAD8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F6B82-FD6A-9C77-08AE-48C78CD3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3E8DE-B8AF-C1A9-4D0D-F04EDDFE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5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2034-86EC-D391-4183-616ED663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783BE-EC3C-428C-6EB1-2C2BCB4DC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2642-B1B7-2137-2478-04F1E74A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6C9F-E66C-4EB7-E2DD-58F519FC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EC316-4113-B147-6D8D-020B7451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51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1DA7-F9DF-79F7-865D-56363C4B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D7807-8C21-2907-E7E1-95C74955E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F93FC-4107-DC11-61ED-B0940B88A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DECCB-DF7A-70A4-D468-BCD8451D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60CBC-41AE-5FDB-4190-50CE236A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A8C8E-C863-0F00-4795-C6F1363E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5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38EF-DB0F-7303-9110-75D5CFC3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1785E-EBF4-0422-C4D1-F7C326B42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D8529-EEBC-52E0-EDB7-1D109DD1F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F7FC-37DD-BAB4-83AE-221BDE83C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61E56-8BB8-EF8F-8B2A-4EFB6B04F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3730D-4575-6A6E-7132-B4E80F1D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A46CFC-3EDB-3010-E600-AB0D05F7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D9581-C80A-35F6-4D37-4098A773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6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F491-2178-1123-DC80-B01FFE41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B279B-EBB8-618A-3097-1F2A7E5F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F66E1-4B71-A3FB-66FF-13927F3D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A39E9-CD01-626E-0AFB-9759DD9F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8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B398D-5381-EE66-9F14-7A317C2E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2723B-421D-9E4B-998D-C0E85E83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472C-9620-9C03-CC2E-72C03DD4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55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377A-45A2-179D-CB50-E61DE8E7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C2DA7-4B51-C653-F440-802899337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869BD-F9CA-59EF-AD49-F3ED47D0C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C8734-73FA-0F9F-CBB9-4526DDA7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6EA31-1D49-1C93-3ADC-90CD4C11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66FFB-992E-B8DD-AA27-12EE6153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05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E73E-E5A6-6BF8-8B9B-7E5DA164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57E93-02A6-6025-5A61-538CF6391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13692-74CE-80E3-0EED-8A38F0A3C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87CC7-0B96-B516-4E9B-F659E901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7A3FB-A970-E845-841C-8083132C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9E1B-BB8F-B071-44D3-26F5B302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8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08FA-C299-FE08-4A60-D6AE0A7B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B7FE0-7C66-178F-31F4-C1CC6DD3E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F04B3-5061-4AD0-A55B-698BED57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ECEC0-2201-72D9-A351-1E94C9A4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4461D-D1A8-5F91-73A3-7E7FBC64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24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4E96CB-F7A0-BD96-A774-71AA8EEEC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53454-1623-C091-DA30-48E7033DB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58467-0772-C917-47C4-4CCE391A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A9215-6181-595C-AD87-CF4BC003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35BA7-5E4A-E13C-8795-76895D7F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68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E8EDF9-03C1-CA91-38FE-61117A1C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07EF7-AA0E-C02D-2C8D-7CF4A3E59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8BDB8-DA4D-A194-F225-5DCCD8F05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795F4-7485-457B-A719-F71765E90134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D6BC-4889-6CCE-EEEE-739E529FF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834FC-DE59-B28B-B3C0-C6B9D8D28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054A-2ECD-45B7-9D82-D54BCEBAF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7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D3C1A-0E27-968D-9834-45FA19E99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AEF0A-B808-3098-EBC3-9612DDBD2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6A53D-AF9C-1CE4-17F5-CFD189C0F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C2F0CF-CF9C-76AA-A596-720BBF0CB8FC}"/>
              </a:ext>
            </a:extLst>
          </p:cNvPr>
          <p:cNvSpPr txBox="1"/>
          <p:nvPr/>
        </p:nvSpPr>
        <p:spPr>
          <a:xfrm>
            <a:off x="5737122" y="2890684"/>
            <a:ext cx="9144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508F6-DED2-C310-82AA-22C9CAC03897}"/>
              </a:ext>
            </a:extLst>
          </p:cNvPr>
          <p:cNvSpPr txBox="1"/>
          <p:nvPr/>
        </p:nvSpPr>
        <p:spPr>
          <a:xfrm>
            <a:off x="1087078" y="2890684"/>
            <a:ext cx="1049532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just"/>
            <a:r>
              <a:rPr lang="en-IN" sz="5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Bookman Old Style" panose="02050604050505020204" pitchFamily="18" charset="0"/>
              </a:rPr>
              <a:t>SOLAR PANAL-REGRESSION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7EBAC-2113-8BF2-40B8-613D57995171}"/>
              </a:ext>
            </a:extLst>
          </p:cNvPr>
          <p:cNvSpPr txBox="1"/>
          <p:nvPr/>
        </p:nvSpPr>
        <p:spPr>
          <a:xfrm>
            <a:off x="4646118" y="3917137"/>
            <a:ext cx="2182008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r>
              <a:rPr lang="en-IN" sz="4800" b="1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Bookman Old Style" panose="02050604050505020204" pitchFamily="18" charset="0"/>
              </a:rPr>
              <a:t>[P599]</a:t>
            </a:r>
          </a:p>
        </p:txBody>
      </p:sp>
    </p:spTree>
    <p:extLst>
      <p:ext uri="{BB962C8B-B14F-4D97-AF65-F5344CB8AC3E}">
        <p14:creationId xmlns:p14="http://schemas.microsoft.com/office/powerpoint/2010/main" val="108078686"/>
      </p:ext>
    </p:ext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CD68-95C4-989E-3A25-50BB016A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2685-E97B-87C5-A481-3F7FC30E4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Ggg</a:t>
            </a:r>
            <a:r>
              <a:rPr lang="en-IN" dirty="0" err="1">
                <a:latin typeface="+mn-lt"/>
              </a:rPr>
              <a:t>nbbbbbbbbbccccccccvvvvvv</a:t>
            </a:r>
            <a:r>
              <a:rPr lang="en-IN" dirty="0">
                <a:latin typeface="+mn-lt"/>
              </a:rPr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D690C-D8B7-1E42-404A-A4CE2B7439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D265A-C546-A4B7-E982-B9AA369DB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1935"/>
            <a:ext cx="12191640" cy="721196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F699DE-553E-3926-2FBE-944B688A3F75}"/>
              </a:ext>
            </a:extLst>
          </p:cNvPr>
          <p:cNvSpPr txBox="1"/>
          <p:nvPr/>
        </p:nvSpPr>
        <p:spPr>
          <a:xfrm>
            <a:off x="299539" y="553234"/>
            <a:ext cx="5552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</a:rPr>
              <a:t>Project Mentor   </a:t>
            </a:r>
            <a:r>
              <a:rPr lang="en-IN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</a:rPr>
              <a:t>Mr. Adhvaith</a:t>
            </a:r>
          </a:p>
          <a:p>
            <a:r>
              <a:rPr lang="en-IN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</a:rPr>
              <a:t>Project co-mentor: </a:t>
            </a:r>
            <a:r>
              <a:rPr lang="en-IN" sz="2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</a:rPr>
              <a:t>Ms.abirami</a:t>
            </a:r>
            <a:endParaRPr lang="en-IN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sto MT" panose="02040603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D888D-7C54-7AFB-BCE5-5ADDD0856942}"/>
              </a:ext>
            </a:extLst>
          </p:cNvPr>
          <p:cNvSpPr txBox="1"/>
          <p:nvPr/>
        </p:nvSpPr>
        <p:spPr>
          <a:xfrm>
            <a:off x="346431" y="2128419"/>
            <a:ext cx="2682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sto MT" panose="02040603050505030304" pitchFamily="18" charset="0"/>
              </a:rPr>
              <a:t>Team Members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64E557D-E6DA-3856-E893-380DEA7143A8}"/>
                  </a:ext>
                </a:extLst>
              </p14:cNvPr>
              <p14:cNvContentPartPr/>
              <p14:nvPr/>
            </p14:nvContentPartPr>
            <p14:xfrm>
              <a:off x="3962571" y="-107492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64E557D-E6DA-3856-E893-380DEA7143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6451" y="-108104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8144194-2E1B-E733-E03B-C020491ECF28}"/>
              </a:ext>
            </a:extLst>
          </p:cNvPr>
          <p:cNvSpPr txBox="1"/>
          <p:nvPr/>
        </p:nvSpPr>
        <p:spPr>
          <a:xfrm>
            <a:off x="487870" y="2943118"/>
            <a:ext cx="382966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1. Tharun P  </a:t>
            </a:r>
          </a:p>
          <a:p>
            <a:pPr algn="just"/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C28E3-03D3-422D-89C3-7DAFD716C11B}"/>
              </a:ext>
            </a:extLst>
          </p:cNvPr>
          <p:cNvSpPr txBox="1"/>
          <p:nvPr/>
        </p:nvSpPr>
        <p:spPr>
          <a:xfrm>
            <a:off x="505642" y="3245492"/>
            <a:ext cx="462515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2"/>
              </a:solidFill>
            </a:endParaRPr>
          </a:p>
          <a:p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2. Shyam </a:t>
            </a:r>
            <a:r>
              <a:rPr lang="en-IN" sz="2000" b="1" dirty="0" err="1">
                <a:solidFill>
                  <a:schemeClr val="bg2"/>
                </a:solidFill>
                <a:latin typeface="Calisto MT" panose="02040603050505030304" pitchFamily="18" charset="0"/>
              </a:rPr>
              <a:t>sundar</a:t>
            </a:r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 </a:t>
            </a:r>
            <a:r>
              <a:rPr lang="en-IN" sz="2000" b="1" dirty="0" err="1">
                <a:solidFill>
                  <a:schemeClr val="bg2"/>
                </a:solidFill>
                <a:latin typeface="Calisto MT" panose="02040603050505030304" pitchFamily="18" charset="0"/>
              </a:rPr>
              <a:t>Konchadi</a:t>
            </a:r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1EC6E-CAB7-3D4F-D1FB-D84FB3FFD095}"/>
              </a:ext>
            </a:extLst>
          </p:cNvPr>
          <p:cNvSpPr txBox="1"/>
          <p:nvPr/>
        </p:nvSpPr>
        <p:spPr>
          <a:xfrm>
            <a:off x="487870" y="4044239"/>
            <a:ext cx="33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3. Chatla Yashwanth Mallik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5F3CC5-663E-920A-7BB1-1647B1AEF55C}"/>
              </a:ext>
            </a:extLst>
          </p:cNvPr>
          <p:cNvSpPr txBox="1"/>
          <p:nvPr/>
        </p:nvSpPr>
        <p:spPr>
          <a:xfrm>
            <a:off x="505643" y="4615268"/>
            <a:ext cx="2077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4. Vishal Rathod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3E11F0-CB9D-6BD4-DFFE-AE883E82A38F}"/>
              </a:ext>
            </a:extLst>
          </p:cNvPr>
          <p:cNvSpPr txBox="1"/>
          <p:nvPr/>
        </p:nvSpPr>
        <p:spPr>
          <a:xfrm>
            <a:off x="517603" y="5137017"/>
            <a:ext cx="2726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5. Guruprasad Biradar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494A1-2E6C-796F-75FE-0284E8D90002}"/>
              </a:ext>
            </a:extLst>
          </p:cNvPr>
          <p:cNvSpPr txBox="1"/>
          <p:nvPr/>
        </p:nvSpPr>
        <p:spPr>
          <a:xfrm>
            <a:off x="536581" y="5681813"/>
            <a:ext cx="2105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  <a:latin typeface="Calisto MT" panose="02040603050505030304" pitchFamily="18" charset="0"/>
              </a:rPr>
              <a:t>6. Karthik Atluri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02D13-31A6-34EA-328E-F94B9E591296}"/>
              </a:ext>
            </a:extLst>
          </p:cNvPr>
          <p:cNvSpPr txBox="1"/>
          <p:nvPr/>
        </p:nvSpPr>
        <p:spPr>
          <a:xfrm>
            <a:off x="2769757" y="557272"/>
            <a:ext cx="280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C0962-6DD0-2420-EF1C-D67135203B54}"/>
              </a:ext>
            </a:extLst>
          </p:cNvPr>
          <p:cNvSpPr txBox="1"/>
          <p:nvPr/>
        </p:nvSpPr>
        <p:spPr>
          <a:xfrm>
            <a:off x="2799053" y="2200009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 </a:t>
            </a:r>
            <a:r>
              <a:rPr lang="en-IN" sz="2400" b="1" dirty="0">
                <a:solidFill>
                  <a:schemeClr val="bg2"/>
                </a:solidFill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F4BC3-E1B7-935A-16CB-3694B055FB90}"/>
              </a:ext>
            </a:extLst>
          </p:cNvPr>
          <p:cNvSpPr txBox="1"/>
          <p:nvPr/>
        </p:nvSpPr>
        <p:spPr>
          <a:xfrm>
            <a:off x="536581" y="6261306"/>
            <a:ext cx="639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Calisto MT" panose="02040603050505030304" pitchFamily="18" charset="0"/>
              </a:rPr>
              <a:t>7</a:t>
            </a:r>
            <a:r>
              <a:rPr lang="en-IN" sz="1800" b="1" dirty="0">
                <a:solidFill>
                  <a:schemeClr val="bg2"/>
                </a:solidFill>
                <a:latin typeface="Calisto MT" panose="02040603050505030304" pitchFamily="18" charset="0"/>
              </a:rPr>
              <a:t>. Krishnakant Sanjay </a:t>
            </a:r>
            <a:r>
              <a:rPr lang="en-IN" b="1" dirty="0">
                <a:solidFill>
                  <a:schemeClr val="bg2"/>
                </a:solidFill>
                <a:latin typeface="Calisto MT" panose="02040603050505030304" pitchFamily="18" charset="0"/>
              </a:rPr>
              <a:t>D</a:t>
            </a:r>
            <a:r>
              <a:rPr lang="en-IN" sz="1800" b="1" dirty="0">
                <a:solidFill>
                  <a:schemeClr val="bg2"/>
                </a:solidFill>
                <a:latin typeface="Calisto MT" panose="02040603050505030304" pitchFamily="18" charset="0"/>
              </a:rPr>
              <a:t>hotre</a:t>
            </a:r>
          </a:p>
        </p:txBody>
      </p:sp>
    </p:spTree>
    <p:extLst>
      <p:ext uri="{BB962C8B-B14F-4D97-AF65-F5344CB8AC3E}">
        <p14:creationId xmlns:p14="http://schemas.microsoft.com/office/powerpoint/2010/main" val="257682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3610-15BC-C439-3619-9EE557166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CCA0-62EB-9246-8A1D-466DFECB35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C9FB-344B-E8F1-05DC-578C3DF31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3D125-0A1E-A3F7-BE52-2009135EC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197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87686-24C7-2D55-0BF5-A13F6BA422B0}"/>
              </a:ext>
            </a:extLst>
          </p:cNvPr>
          <p:cNvSpPr txBox="1"/>
          <p:nvPr/>
        </p:nvSpPr>
        <p:spPr>
          <a:xfrm>
            <a:off x="339634" y="383957"/>
            <a:ext cx="1675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Agenda: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5B3C7B-06F8-5C28-0ADD-6C800C754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009" y="1606772"/>
            <a:ext cx="7063344" cy="389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Problem statement &amp; objectives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Dataset &amp; exploratory data analysis (EDA)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cleaning &amp; preprocessing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 extraction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Model building &amp; evaluation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Deployment &amp; conclusions</a:t>
            </a:r>
          </a:p>
        </p:txBody>
      </p:sp>
    </p:spTree>
    <p:extLst>
      <p:ext uri="{BB962C8B-B14F-4D97-AF65-F5344CB8AC3E}">
        <p14:creationId xmlns:p14="http://schemas.microsoft.com/office/powerpoint/2010/main" val="84562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7102-9877-876D-B8DB-18268365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E25AE2-CB65-9631-1E40-4511598E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81227-CCA5-39F6-6CC4-F7F01C86B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6B3F5-B0A3-0BFB-D4CD-03FED47BB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141416-CEF6-AEF8-581F-8B0D5A66454F}"/>
              </a:ext>
            </a:extLst>
          </p:cNvPr>
          <p:cNvSpPr txBox="1"/>
          <p:nvPr/>
        </p:nvSpPr>
        <p:spPr>
          <a:xfrm>
            <a:off x="246888" y="2055813"/>
            <a:ext cx="11878926" cy="390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Title: Solar </a:t>
            </a:r>
            <a:r>
              <a:rPr lang="en-US" sz="2400" b="1" dirty="0" err="1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panal</a:t>
            </a:r>
            <a:r>
              <a:rPr 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- regression</a:t>
            </a:r>
            <a:r>
              <a:rPr 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Domain</a:t>
            </a:r>
            <a:r>
              <a:rPr 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Machine Learning (Regression Model).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</a:t>
            </a:r>
            <a:r>
              <a:rPr 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Automatically predict solar power generation using environmental and meteorological variables to help optimize energy planning and efficient utilization of renewable resources.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Approach</a:t>
            </a:r>
            <a:r>
              <a:rPr 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Develop a supervised machine learning  regression model to predict the solar power generated using environmental features.</a:t>
            </a:r>
            <a:endParaRPr lang="en-IN" sz="2400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02F3F-628C-7468-F28D-B8B3E95446BE}"/>
              </a:ext>
            </a:extLst>
          </p:cNvPr>
          <p:cNvSpPr txBox="1"/>
          <p:nvPr/>
        </p:nvSpPr>
        <p:spPr>
          <a:xfrm>
            <a:off x="246888" y="589647"/>
            <a:ext cx="6394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  <a:ea typeface="Cambria" panose="02040503050406030204" pitchFamily="18" charset="0"/>
              </a:rPr>
              <a:t>Project Overview :</a:t>
            </a:r>
          </a:p>
        </p:txBody>
      </p:sp>
    </p:spTree>
    <p:extLst>
      <p:ext uri="{BB962C8B-B14F-4D97-AF65-F5344CB8AC3E}">
        <p14:creationId xmlns:p14="http://schemas.microsoft.com/office/powerpoint/2010/main" val="386831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32A54-5DAE-D3E3-2302-658B74378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F10ACE2-1201-A520-3ACB-CF8C8A4A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B4E79DE-0EDF-721D-EFFA-6952576E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F534E-5841-40A0-FC01-54F4274F6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4EBA81-F302-2E57-71A6-D04687985A57}"/>
              </a:ext>
            </a:extLst>
          </p:cNvPr>
          <p:cNvSpPr txBox="1"/>
          <p:nvPr/>
        </p:nvSpPr>
        <p:spPr>
          <a:xfrm>
            <a:off x="5740400" y="308956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99A59-BA8F-3796-B791-C5F46432F8FA}"/>
              </a:ext>
            </a:extLst>
          </p:cNvPr>
          <p:cNvSpPr txBox="1"/>
          <p:nvPr/>
        </p:nvSpPr>
        <p:spPr>
          <a:xfrm>
            <a:off x="81280" y="593399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  <a:ea typeface="Cambria" panose="02040503050406030204" pitchFamily="18" charset="0"/>
              </a:rPr>
              <a:t>Objective: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4628C-FEF7-B846-2EEB-24C37B7D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971" y="1476080"/>
            <a:ext cx="11115829" cy="5563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Primary Goal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Develop a robust classification model that accurately predicts  solar power generation using key environmental and meteorological variables                            such as temperature, humidity, sky cover, visibility, wind parameters, and atmospheric pressure 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Deliverables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 clean, well-processed dataset ready for modelling ,multiple regression models, a finalized high-accuracy model saved as deployable python file.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Success Metric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Maximized regression performance measured using r-square score, lower RMSE, and lower MAE, on the final chosen model to ensure accurate and reliable power generation predictions.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82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2257-DA9A-27B3-BBBD-190E4063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AEB1-AADF-745C-9841-862389CE2F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CC5A7-F749-C400-354F-B3964EDC1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828C1-5D1E-FB5D-544C-16C86A64B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41909E-600E-658E-9A51-7CF24B25C909}"/>
              </a:ext>
            </a:extLst>
          </p:cNvPr>
          <p:cNvSpPr txBox="1"/>
          <p:nvPr/>
        </p:nvSpPr>
        <p:spPr>
          <a:xfrm>
            <a:off x="345881" y="476032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+mj-lt"/>
              </a:rPr>
              <a:t>Data Overview: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2DF22E7-2AC9-064F-8AE6-F3BB0B338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81" y="2183170"/>
            <a:ext cx="1161243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Source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Data loaded from the file dataset- P599.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xlsx –solar power generation .csv.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Initial Size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Approximately 2920 rows and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10 columns.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Columns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* Title: Review title.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* Body: distance to-solar-noon  (Primary Feature),wind direction, wind speed.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	  sky cover, power generated.</a:t>
            </a:r>
          </a:p>
        </p:txBody>
      </p:sp>
    </p:spTree>
    <p:extLst>
      <p:ext uri="{BB962C8B-B14F-4D97-AF65-F5344CB8AC3E}">
        <p14:creationId xmlns:p14="http://schemas.microsoft.com/office/powerpoint/2010/main" val="197804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2257-DA9A-27B3-BBBD-190E4063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AEB1-AADF-745C-9841-862389CE2F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CC5A7-F749-C400-354F-B3964EDC1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828C1-5D1E-FB5D-544C-16C86A64B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41909E-600E-658E-9A51-7CF24B25C909}"/>
              </a:ext>
            </a:extLst>
          </p:cNvPr>
          <p:cNvSpPr txBox="1"/>
          <p:nvPr/>
        </p:nvSpPr>
        <p:spPr>
          <a:xfrm>
            <a:off x="345881" y="476032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System Workflow Diagram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46A1E-9761-9ABA-E889-4FD8A4B6CE21}"/>
              </a:ext>
            </a:extLst>
          </p:cNvPr>
          <p:cNvSpPr txBox="1"/>
          <p:nvPr/>
        </p:nvSpPr>
        <p:spPr>
          <a:xfrm>
            <a:off x="584420" y="1168400"/>
            <a:ext cx="114247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</a:t>
            </a:r>
            <a:r>
              <a:rPr lang="en-IN" sz="2000" b="1" dirty="0">
                <a:solidFill>
                  <a:schemeClr val="bg1"/>
                </a:solidFill>
              </a:rPr>
              <a:t>[DATA SOURCES]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[DATA INGESTION/STORAGE]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[DATA PREPROCESSING &amp; CLEANING]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[EXPLORATORY DATA ANALYST]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[FEATURE ENGINEERING/SELECTION]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[MODEL TRAINING  &amp; HYPERPARAMETER TUNING]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[MODEL EVALUATION &amp; COMPARISON]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[SELECTED MODEL(SERIALIZE MODEL.PKL/JBL)]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[DEPLOYMENT:REST API(STREAMLIT,FLASK)]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|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[MONITORING,LOGGING,RETRAINING &amp; SCHEDULED]</a:t>
            </a:r>
          </a:p>
        </p:txBody>
      </p:sp>
    </p:spTree>
    <p:extLst>
      <p:ext uri="{BB962C8B-B14F-4D97-AF65-F5344CB8AC3E}">
        <p14:creationId xmlns:p14="http://schemas.microsoft.com/office/powerpoint/2010/main" val="197804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3A60-FB6D-C75D-C862-3908B237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D503-6F6F-1B0F-E530-C0E8B5953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8FAC9-8870-59EA-C4D2-79123011E1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E8359-1A70-34F2-FB4C-84F18A79E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1D4FA0-B36C-6934-0943-5FBBFAD929EB}"/>
              </a:ext>
            </a:extLst>
          </p:cNvPr>
          <p:cNvSpPr txBox="1"/>
          <p:nvPr/>
        </p:nvSpPr>
        <p:spPr>
          <a:xfrm>
            <a:off x="288288" y="116320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+mj-lt"/>
              </a:rPr>
              <a:t>Exploratory Data Analysis (EDA):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696DDA8-AE25-BCC6-3B1B-8C6057A1E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08" y="2496699"/>
            <a:ext cx="10714992" cy="3347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Quality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Checked for and confirmed no missing values Removed duplicate rows.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Visualization: 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 using </a:t>
            </a:r>
            <a:r>
              <a:rPr lang="en-US" altLang="en-US" sz="24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histplot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,boxplot, heatmap, scatter plot we explored how the data is distributed 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Outlier capping </a:t>
            </a:r>
            <a:r>
              <a:rPr lang="en-US" alt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by using boxplot we explored that is there any outliers or not ,if exists we get rid of from them by using capping.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85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D08B2-0BE2-1FFF-2849-DDBCB1B6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ABF-7675-F73C-A443-EF24532835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D17D1-A3E4-8327-44D9-27B5E5BB4A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01E9E-1474-C2E2-6ECE-AC00D2CEE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76981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0E3D0C-FAA6-CD71-AE61-4DB9A8A93847}"/>
              </a:ext>
            </a:extLst>
          </p:cNvPr>
          <p:cNvSpPr txBox="1"/>
          <p:nvPr/>
        </p:nvSpPr>
        <p:spPr>
          <a:xfrm>
            <a:off x="376311" y="1007184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+mj-lt"/>
              </a:rPr>
              <a:t>Feature Engineering 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5C03A-6797-C048-2EB4-BAE3B13BA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018" y="2303188"/>
            <a:ext cx="10283965" cy="2597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 the features for modeling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Split the data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Scale the features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Saved the scalar &amp; .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joblib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342213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19F9-F865-EF11-9708-3129B17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F161-978F-D131-5E61-E5ED53BC3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EA0ED-7D08-438E-EE77-A70DA640BB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AA4EA-14F4-32CD-94A8-9A290CB05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B75AE2-4C17-7013-D35B-26DA4A33E894}"/>
              </a:ext>
            </a:extLst>
          </p:cNvPr>
          <p:cNvSpPr txBox="1"/>
          <p:nvPr/>
        </p:nvSpPr>
        <p:spPr>
          <a:xfrm>
            <a:off x="395416" y="383957"/>
            <a:ext cx="4818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Model Building &amp; Testing: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A729BE-84B0-E569-1317-8005AA8EC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98" y="1211322"/>
            <a:ext cx="731134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Split dataset into 80% training and 20% testing.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Tried multiple models: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Gradient Boosting.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err="1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Random Forest.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Decision Tree.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Trained each model and evaluated using RMSE,MAE, R-square 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Selected the best-performing model based on results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bg2"/>
                </a:solidFill>
              </a:rPr>
              <a:t>We came up with the best model which gives best results is “gradient boosting”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</a:endParaRPr>
          </a:p>
        </p:txBody>
      </p:sp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CD80BC24-B9E4-6D6F-90DA-DC400D763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332" y="1647877"/>
            <a:ext cx="5245370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7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6E72-DEBB-F4C3-5F2D-8F8C4BAE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EF98AA6-CF03-EA44-94D5-B29DC2A15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A46D4235-0028-5063-B288-0C53CF39D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C1632-3DD1-13E1-FE0A-24250186E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943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E0C901-5D04-6654-F6A1-1B07A9E255D0}"/>
              </a:ext>
            </a:extLst>
          </p:cNvPr>
          <p:cNvSpPr txBox="1"/>
          <p:nvPr/>
        </p:nvSpPr>
        <p:spPr>
          <a:xfrm>
            <a:off x="304948" y="391785"/>
            <a:ext cx="2438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Best Model: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213F28-ED91-E040-28AA-BCC777B05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48" y="1435640"/>
            <a:ext cx="772014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After testing multiple models such as</a:t>
            </a: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400" dirty="0" err="1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Random Forest, and Gradient boost, decision tree . The </a:t>
            </a: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Gradient Boosting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model achieved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best overall performance.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Reasons for Selecting </a:t>
            </a:r>
            <a:r>
              <a:rPr lang="en-US" alt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Gradient </a:t>
            </a:r>
            <a:r>
              <a:rPr lang="en-US" altLang="en-US" sz="2400" b="1" dirty="0" err="1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boosing</a:t>
            </a:r>
            <a:r>
              <a:rPr lang="en-US" altLang="en-US" sz="24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Delivered the highest </a:t>
            </a: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R-square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&amp; RMSE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among all </a:t>
            </a: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tested models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Robust for small to medium-sized datasets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Easy to interpret, tune, and deploy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Performance Metrics: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R-square : ≈ </a:t>
            </a: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0.905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%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RMSE: ≈ 3106.00%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MAE: 1633.37%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graph with blue rectangular bars&#10;&#10;AI-generated content may be incorrect.">
            <a:extLst>
              <a:ext uri="{FF2B5EF4-FFF2-40B4-BE49-F238E27FC236}">
                <a16:creationId xmlns:a16="http://schemas.microsoft.com/office/drawing/2014/main" id="{9F24750D-BCE9-3045-A449-1D0559CAD0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948" y="2413969"/>
            <a:ext cx="5490402" cy="416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0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3D01-FE9E-D117-2174-DBFF3AF0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C6A6-D827-110A-3A30-9937F312B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B8C5A-D1D1-761A-3ADB-064E28D34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7CAEC-1077-FC07-9DC0-2D757E787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15D965-BFB7-890D-C058-B79FF5C5D6F0}"/>
              </a:ext>
            </a:extLst>
          </p:cNvPr>
          <p:cNvSpPr txBox="1"/>
          <p:nvPr/>
        </p:nvSpPr>
        <p:spPr>
          <a:xfrm>
            <a:off x="345990" y="1122363"/>
            <a:ext cx="2534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Deployment: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C58FD5F-83F2-1400-B992-A4C298DC7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90" y="2208421"/>
            <a:ext cx="6616513" cy="3244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Export model (pickle / job lib or saved transformer model).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Wrap inference in an API (/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/Flask / FastAPI)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Monitoring: track R-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square,RMSE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MAE</a:t>
            </a:r>
          </a:p>
        </p:txBody>
      </p:sp>
    </p:spTree>
    <p:extLst>
      <p:ext uri="{BB962C8B-B14F-4D97-AF65-F5344CB8AC3E}">
        <p14:creationId xmlns:p14="http://schemas.microsoft.com/office/powerpoint/2010/main" val="636715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3906-43CD-5DD5-44F7-79102113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18B7-0865-6675-1B93-A34F1E690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C73C3-3B61-8D30-EFF2-6A3465139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1E975-1E93-AE5D-4B5B-4C0C0EE9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F444D8-C676-541E-5402-5F62B17E5671}"/>
              </a:ext>
            </a:extLst>
          </p:cNvPr>
          <p:cNvSpPr txBox="1"/>
          <p:nvPr/>
        </p:nvSpPr>
        <p:spPr>
          <a:xfrm>
            <a:off x="345990" y="383957"/>
            <a:ext cx="3938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Deployment: Output</a:t>
            </a:r>
          </a:p>
        </p:txBody>
      </p:sp>
      <p:pic>
        <p:nvPicPr>
          <p:cNvPr id="8" name="Picture 7" descr="A diagram of data on a white background&#10;&#10;AI-generated content may be incorrect.">
            <a:extLst>
              <a:ext uri="{FF2B5EF4-FFF2-40B4-BE49-F238E27FC236}">
                <a16:creationId xmlns:a16="http://schemas.microsoft.com/office/drawing/2014/main" id="{62C13C11-D232-DC54-1AE9-F911D627DD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211"/>
            <a:ext cx="12192000" cy="554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6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3D01-FE9E-D117-2174-DBFF3AF0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C6A6-D827-110A-3A30-9937F312B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B8C5A-D1D1-761A-3ADB-064E28D34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7CAEC-1077-FC07-9DC0-2D757E787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15D965-BFB7-890D-C058-B79FF5C5D6F0}"/>
              </a:ext>
            </a:extLst>
          </p:cNvPr>
          <p:cNvSpPr txBox="1"/>
          <p:nvPr/>
        </p:nvSpPr>
        <p:spPr>
          <a:xfrm>
            <a:off x="345990" y="383957"/>
            <a:ext cx="3938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Deployment: Output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AEB4EE-9838-D9F3-F11D-AC82BE570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461"/>
            <a:ext cx="12192000" cy="600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15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3D01-FE9E-D117-2174-DBFF3AF0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C6A6-D827-110A-3A30-9937F312B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B8C5A-D1D1-761A-3ADB-064E28D34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7CAEC-1077-FC07-9DC0-2D757E787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15D965-BFB7-890D-C058-B79FF5C5D6F0}"/>
              </a:ext>
            </a:extLst>
          </p:cNvPr>
          <p:cNvSpPr txBox="1"/>
          <p:nvPr/>
        </p:nvSpPr>
        <p:spPr>
          <a:xfrm>
            <a:off x="345990" y="383957"/>
            <a:ext cx="3938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Deployment: Output</a:t>
            </a:r>
          </a:p>
        </p:txBody>
      </p:sp>
      <p:pic>
        <p:nvPicPr>
          <p:cNvPr id="7" name="Picture 6" descr="A calendar with numbers and text&#10;&#10;AI-generated content may be incorrect.">
            <a:extLst>
              <a:ext uri="{FF2B5EF4-FFF2-40B4-BE49-F238E27FC236}">
                <a16:creationId xmlns:a16="http://schemas.microsoft.com/office/drawing/2014/main" id="{9ABF26B0-8A7B-2091-7D8D-636718DFF9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6735"/>
            <a:ext cx="12028714" cy="533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15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3BB6-3B49-CC30-B39E-6412CBA3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B843-4D7B-107D-6D06-C8EDD299E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36973-0FBE-FF83-2603-47112C909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E3387-70C4-5136-F1DD-FB06A64D8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858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DD699A-7C9B-A82C-F46F-7D95478138C9}"/>
              </a:ext>
            </a:extLst>
          </p:cNvPr>
          <p:cNvSpPr txBox="1"/>
          <p:nvPr/>
        </p:nvSpPr>
        <p:spPr>
          <a:xfrm>
            <a:off x="395414" y="383957"/>
            <a:ext cx="4621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latin typeface="+mj-lt"/>
              </a:rPr>
              <a:t>Challenges Faced: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5565D10-48F7-267A-C9AA-01721A78B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14" y="1414245"/>
            <a:ext cx="9242980" cy="5563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Quality Issues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Granularity &amp; Time Intervals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Variability in Weather Conditions.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 Correlation &amp; Multicollinearity.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 Overfitting.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Limited Historical Data.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Deployment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issues — dependency errors and environment setup.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Limited time and computing resources.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Non-Linear Relationships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Interpretability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58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EA5D-1F45-971F-9271-387F02A2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EED3-8BB4-4B28-2711-3B37EDA535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B254B-2961-E56E-B7D5-7E1113F3C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1B7EE-9E56-B883-52F8-7B32D7884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858" y="0"/>
            <a:ext cx="12192000" cy="7211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F603C5-2C09-06B0-1D4B-0CE984F7C1F8}"/>
              </a:ext>
            </a:extLst>
          </p:cNvPr>
          <p:cNvSpPr txBox="1"/>
          <p:nvPr/>
        </p:nvSpPr>
        <p:spPr>
          <a:xfrm>
            <a:off x="4441658" y="2967335"/>
            <a:ext cx="3892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spc="50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Bell MT" panose="02020503060305020303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2380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729</TotalTime>
  <Words>737</Words>
  <Application>Microsoft Office PowerPoint</Application>
  <PresentationFormat>Widescreen</PresentationFormat>
  <Paragraphs>127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Bell MT</vt:lpstr>
      <vt:lpstr>Bookman Old Style</vt:lpstr>
      <vt:lpstr>Calibri</vt:lpstr>
      <vt:lpstr>Calibri Light</vt:lpstr>
      <vt:lpstr>Calisto MT</vt:lpstr>
      <vt:lpstr>Cambria</vt:lpstr>
      <vt:lpstr>Wingdings</vt:lpstr>
      <vt:lpstr>Office Theme</vt:lpstr>
      <vt:lpstr>PowerPoint Presentation</vt:lpstr>
      <vt:lpstr>Gggnbbbbbbbbbccccccccvvvvvv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Bharani D</dc:creator>
  <cp:lastModifiedBy>Annapoorneshwari Biradar</cp:lastModifiedBy>
  <cp:revision>9</cp:revision>
  <dcterms:created xsi:type="dcterms:W3CDTF">2025-10-16T14:17:47Z</dcterms:created>
  <dcterms:modified xsi:type="dcterms:W3CDTF">2025-11-26T17:38:06Z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0906dda-c63b-4fc6-917e-f6c1146d9ac5_Enabled">
    <vt:lpwstr>true</vt:lpwstr>
  </property>
  <property fmtid="{D5CDD505-2E9C-101B-9397-08002B2CF9AE}" pid="3" name="MSIP_Label_c0906dda-c63b-4fc6-917e-f6c1146d9ac5_SetDate">
    <vt:lpwstr>2025-11-26T17:37:50Z</vt:lpwstr>
  </property>
  <property fmtid="{D5CDD505-2E9C-101B-9397-08002B2CF9AE}" pid="4" name="MSIP_Label_c0906dda-c63b-4fc6-917e-f6c1146d9ac5_Method">
    <vt:lpwstr>Privileged</vt:lpwstr>
  </property>
  <property fmtid="{D5CDD505-2E9C-101B-9397-08002B2CF9AE}" pid="5" name="MSIP_Label_c0906dda-c63b-4fc6-917e-f6c1146d9ac5_Name">
    <vt:lpwstr>c0906dda-c63b-4fc6-917e-f6c1146d9ac5</vt:lpwstr>
  </property>
  <property fmtid="{D5CDD505-2E9C-101B-9397-08002B2CF9AE}" pid="6" name="MSIP_Label_c0906dda-c63b-4fc6-917e-f6c1146d9ac5_SiteId">
    <vt:lpwstr>457d5685-0467-4d05-b23b-8f817adda47c</vt:lpwstr>
  </property>
  <property fmtid="{D5CDD505-2E9C-101B-9397-08002B2CF9AE}" pid="7" name="MSIP_Label_c0906dda-c63b-4fc6-917e-f6c1146d9ac5_ActionId">
    <vt:lpwstr>e6f24aee-30b2-4980-a550-446009c6ddca</vt:lpwstr>
  </property>
  <property fmtid="{D5CDD505-2E9C-101B-9397-08002B2CF9AE}" pid="8" name="MSIP_Label_c0906dda-c63b-4fc6-917e-f6c1146d9ac5_ContentBits">
    <vt:lpwstr>0</vt:lpwstr>
  </property>
  <property fmtid="{D5CDD505-2E9C-101B-9397-08002B2CF9AE}" pid="9" name="MSIP_Label_c0906dda-c63b-4fc6-917e-f6c1146d9ac5_Tag">
    <vt:lpwstr>10, 0, 1, 1</vt:lpwstr>
  </property>
</Properties>
</file>